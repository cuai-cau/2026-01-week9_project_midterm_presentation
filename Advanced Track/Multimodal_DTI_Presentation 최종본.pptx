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89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38BDF8"/>
                </a:solidFill>
              </a:rPr>
              <a:t>Advanced Track Research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Multimodal DTI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1480" y="23317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FAEC8"/>
                </a:solidFill>
              </a:rPr>
              <a:t>Evoformer + ChemBERTa를 융합한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8FAEC8"/>
                </a:solidFill>
              </a:rPr>
              <a:t>표적 단백질-화합물 결합 친화도 예측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3246120"/>
            <a:ext cx="3657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EC8"/>
                </a:solidFill>
              </a:rPr>
              <a:t>Multimodal Team  ·  김보형, </a:t>
            </a:r>
            <a:r>
              <a:rPr lang="ko-KR" altLang="en-US" sz="1300" dirty="0" err="1">
                <a:solidFill>
                  <a:srgbClr val="8FAEC8"/>
                </a:solidFill>
              </a:rPr>
              <a:t>이재권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931920"/>
            <a:ext cx="1600200" cy="347472"/>
          </a:xfrm>
          <a:prstGeom prst="rect">
            <a:avLst/>
          </a:prstGeom>
          <a:solidFill>
            <a:srgbClr val="1620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9319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</a:rPr>
              <a:t>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30552" y="3931920"/>
            <a:ext cx="1600200" cy="347472"/>
          </a:xfrm>
          <a:prstGeom prst="rect">
            <a:avLst/>
          </a:prstGeom>
          <a:solidFill>
            <a:srgbClr val="1620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0552" y="39319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</a:rPr>
              <a:t>PyTorch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9624" y="3931920"/>
            <a:ext cx="1600200" cy="347472"/>
          </a:xfrm>
          <a:prstGeom prst="rect">
            <a:avLst/>
          </a:prstGeom>
          <a:solidFill>
            <a:srgbClr val="1620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9624" y="39319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</a:rPr>
              <a:t>C++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68696" y="3931920"/>
            <a:ext cx="1600200" cy="347472"/>
          </a:xfrm>
          <a:prstGeom prst="rect">
            <a:avLst/>
          </a:prstGeom>
          <a:solidFill>
            <a:srgbClr val="1620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68696" y="39319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</a:rPr>
              <a:t>HuggingFace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87768" y="3931920"/>
            <a:ext cx="1600200" cy="347472"/>
          </a:xfrm>
          <a:prstGeom prst="rect">
            <a:avLst/>
          </a:prstGeom>
          <a:solidFill>
            <a:srgbClr val="1620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87768" y="39319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</a:rPr>
              <a:t>A100 ×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38BDF8">
                    <a:alpha val="70000"/>
                  </a:srgbClr>
                </a:solidFill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2860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8BDF8"/>
                </a:solidFill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21031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문제 정의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92608" y="466344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828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7C6AF7">
                    <a:alpha val="60000"/>
                  </a:srgbClr>
                </a:solidFill>
              </a:rPr>
              <a:t>“</a:t>
            </a:r>
            <a:endParaRPr lang="en-US" sz="8000" dirty="0"/>
          </a:p>
        </p:txBody>
      </p:sp>
      <p:sp>
        <p:nvSpPr>
          <p:cNvPr id="13" name="Text 11"/>
          <p:cNvSpPr/>
          <p:nvPr/>
        </p:nvSpPr>
        <p:spPr>
          <a:xfrm>
            <a:off x="3200400" y="54864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293B"/>
                </a:solidFill>
              </a:rPr>
              <a:t>신약 개발에서 수천 개의 화합물 후보 중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E293B"/>
                </a:solidFill>
              </a:rPr>
              <a:t>어떤 것이 표적 단백질에 잘 결합하는지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E293B"/>
                </a:solidFill>
              </a:rPr>
              <a:t>예측하는 게 핵심 병목입니다.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00400" y="2103120"/>
            <a:ext cx="53035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240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6AF7"/>
                </a:solidFill>
              </a:rPr>
              <a:t>목표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6060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결합 친화도(pIC50)를 딥러닝으로 예측하는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</a:rPr>
              <a:t>멀티모달 파이프라인 구축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0400" y="3566160"/>
            <a:ext cx="1737360" cy="128016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3657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00400" y="4114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38BDF8"/>
                </a:solidFill>
              </a:rPr>
              <a:t>대상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43891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단백질 – 화합물 결합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74920" y="3566160"/>
            <a:ext cx="1737360" cy="128016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657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74920" y="4114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38BDF8"/>
                </a:solidFill>
              </a:rPr>
              <a:t>예측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4920" y="43891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Binding Affinity (pIC50)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3566160"/>
            <a:ext cx="1737360" cy="128016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3657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49440" y="4114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38BDF8"/>
                </a:solidFill>
              </a:rPr>
              <a:t>방법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9440" y="43891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멀티모달 딥러닝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38BDF8">
                    <a:alpha val="70000"/>
                  </a:srgbClr>
                </a:solidFill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2860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8BDF8"/>
                </a:solidFill>
              </a:rPr>
              <a:t>DESIGN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21031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핵심 설계 결정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92608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66344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365760"/>
            <a:ext cx="2743200" cy="4389120"/>
          </a:xfrm>
          <a:prstGeom prst="rect">
            <a:avLst/>
          </a:prstGeom>
          <a:solidFill>
            <a:srgbClr val="1A0A0A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365760"/>
            <a:ext cx="2743200" cy="4114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365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전체 AlphaFold2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1005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EC8"/>
                </a:solidFill>
              </a:rPr>
              <a:t>Evoformer (MSA 표현 학습)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EC8"/>
                </a:solidFill>
              </a:rPr>
              <a:t>Structure Module (3D 렌더링)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2377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8BDF8"/>
                </a:solidFill>
              </a:rPr>
              <a:t>→ TPU 수준 연산 필요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4114800"/>
            <a:ext cx="914400" cy="320040"/>
          </a:xfrm>
          <a:prstGeom prst="rect">
            <a:avLst/>
          </a:prstGeom>
          <a:solidFill>
            <a:srgbClr val="991B1B">
              <a:alpha val="70000"/>
            </a:srgbClr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4114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제거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365760"/>
            <a:ext cx="2743200" cy="4389120"/>
          </a:xfrm>
          <a:prstGeom prst="rect">
            <a:avLst/>
          </a:prstGeom>
          <a:solidFill>
            <a:srgbClr val="0A1A12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365760"/>
            <a:ext cx="2743200" cy="411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365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이 프로젝트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1005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EC8"/>
                </a:solidFill>
              </a:rPr>
              <a:t>Evoformer (MSA 표현 학습)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EC8"/>
                </a:solidFill>
              </a:rPr>
              <a:t>✕ Structure Module 생략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2377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8BDF8"/>
                </a:solidFill>
              </a:rPr>
              <a:t>→ 표현 학습 + 결합력 예측에 집중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4114800"/>
            <a:ext cx="914400" cy="320040"/>
          </a:xfrm>
          <a:prstGeom prst="rect">
            <a:avLst/>
          </a:prstGeom>
          <a:solidFill>
            <a:srgbClr val="065F46">
              <a:alpha val="70000"/>
            </a:srgbClr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4114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채택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0" y="2468880"/>
            <a:ext cx="365760" cy="274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38BDF8">
                    <a:alpha val="70000"/>
                  </a:srgbClr>
                </a:solidFill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2860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8BDF8"/>
                </a:solidFill>
              </a:rPr>
              <a:t>MODALITIES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21031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두 모달리티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92608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466344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274320"/>
            <a:ext cx="2606040" cy="548640"/>
          </a:xfrm>
          <a:prstGeom prst="rect">
            <a:avLst/>
          </a:prstGeom>
          <a:solidFill>
            <a:srgbClr val="7C6AF7">
              <a:alpha val="80000"/>
            </a:srgbClr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2743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단백질 인코더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56692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C6AF7"/>
                </a:solidFill>
              </a:rPr>
              <a:t>Evoformer (PyTorch)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08960" y="868680"/>
            <a:ext cx="260604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188720"/>
            <a:ext cx="91440" cy="91440"/>
          </a:xfrm>
          <a:prstGeom prst="ellipse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11556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EC8"/>
                </a:solidFill>
              </a:rPr>
              <a:t>입력: MSA [B, D, L, 22]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1847088"/>
            <a:ext cx="91440" cy="91440"/>
          </a:xfrm>
          <a:prstGeom prst="ellipse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1773936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EC8"/>
                </a:solidFill>
              </a:rPr>
              <a:t>Row / Column Attention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505456"/>
            <a:ext cx="91440" cy="91440"/>
          </a:xfrm>
          <a:prstGeom prst="ellipse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432304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EC8"/>
                </a:solidFill>
              </a:rPr>
              <a:t>Triangle Multiplicative Update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3163824"/>
            <a:ext cx="91440" cy="91440"/>
          </a:xfrm>
          <a:prstGeom prst="ellipse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09067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8BDF8"/>
                </a:solidFill>
              </a:rPr>
              <a:t>출력: single_repr [B, L, 256]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3822192"/>
            <a:ext cx="91440" cy="91440"/>
          </a:xfrm>
          <a:prstGeom prst="ellipse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7490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8BDF8"/>
                </a:solidFill>
              </a:rPr>
              <a:t>C++ MSA 파서 (고속 전처리)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74320"/>
            <a:ext cx="2606040" cy="548640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743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화합물 인코더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0" y="56692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38BDF8"/>
                </a:solidFill>
              </a:rPr>
              <a:t>ChemBERTa (HuggingFace)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0" y="868680"/>
            <a:ext cx="260604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118872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111556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EC8"/>
                </a:solidFill>
              </a:rPr>
              <a:t>입력: SMILES 텍스트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80760" y="1847088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1773936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EC8"/>
                </a:solidFill>
              </a:rPr>
              <a:t>RoBERTa 기반 사전학습 모델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80760" y="2505456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2432304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EC8"/>
                </a:solidFill>
              </a:rPr>
              <a:t>77M SMILES로 학습됨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80760" y="3163824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309067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8BDF8"/>
                </a:solidFill>
              </a:rPr>
              <a:t>하위 6 레이어 동결 (과적합 방지)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80760" y="3822192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37490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8BDF8"/>
                </a:solidFill>
              </a:rPr>
              <a:t>출력: token_emb [B, S, 384]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150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+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38BDF8">
                    <a:alpha val="70000"/>
                  </a:srgbClr>
                </a:solidFill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2860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8BDF8"/>
                </a:solidFill>
              </a:rPr>
              <a:t>FUSION &amp; TRAINING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21031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융합 + 학습 전략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92608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466344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320040"/>
            <a:ext cx="576072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320040"/>
            <a:ext cx="54864" cy="137160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8404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6AF7"/>
                </a:solidFill>
              </a:rPr>
              <a:t>Cross-Attention Fusion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749808"/>
            <a:ext cx="5394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EC8"/>
                </a:solidFill>
              </a:rPr>
              <a:t>단백질 잔기(Query) ↔ 화합물 원자(Key/Value)  ·  2 layers, bidirectional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EC8"/>
                </a:solidFill>
              </a:rPr>
              <a:t>어떤 잔기가 어떤 원자와 상호작용하는지 명시적으로 학습 → fused [B, 256]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18745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</a:rPr>
              <a:t>3단계 커리큘럼 학습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08960" y="2286000"/>
            <a:ext cx="1810512" cy="2560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2286000"/>
            <a:ext cx="1810512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2860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Stage 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82112" y="2834640"/>
            <a:ext cx="1664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Contact Map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Pretraining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82112" y="356616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EC8"/>
                </a:solidFill>
              </a:rPr>
              <a:t>Evoformer 단백질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EC8"/>
                </a:solidFill>
              </a:rPr>
              <a:t>기하학 학습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9472" y="338328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47488" y="2286000"/>
            <a:ext cx="1810512" cy="2560320"/>
          </a:xfrm>
          <a:prstGeom prst="rect">
            <a:avLst/>
          </a:prstGeom>
          <a:solidFill>
            <a:srgbClr val="0A1628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47488" y="2286000"/>
            <a:ext cx="1810512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22860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Stage 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2834640"/>
            <a:ext cx="1664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Affinity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(Evoformer frozen)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356616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EC8"/>
                </a:solidFill>
              </a:rPr>
              <a:t>결합 친화도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EC8"/>
                </a:solidFill>
              </a:rPr>
              <a:t>헤드 학습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338328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86016" y="2286000"/>
            <a:ext cx="1810512" cy="2560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86016" y="2286000"/>
            <a:ext cx="1810512" cy="4572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86016" y="22860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Stage 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59168" y="2834640"/>
            <a:ext cx="1664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End-to-End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Fine-tuning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59168" y="356616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EC8"/>
                </a:solidFill>
              </a:rPr>
              <a:t>전체 모델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EC8"/>
                </a:solidFill>
              </a:rPr>
              <a:t>bfloat16 AMP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38BDF8">
                    <a:alpha val="70000"/>
                  </a:srgbClr>
                </a:solidFill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2860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8BDF8"/>
                </a:solidFill>
              </a:rPr>
              <a:t>RESOURCES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21031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리소스 계획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92608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46634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466344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320040"/>
            <a:ext cx="576072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411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</a:rPr>
              <a:t>🖥  A100 GPU × 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46120" y="868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EC8"/>
                </a:solidFill>
              </a:rPr>
              <a:t>MSA 텐서 연산 + DDP 분산 학습을 위한 주요 타겟 리소스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08960" y="1920240"/>
            <a:ext cx="1810512" cy="201168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20116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00400" y="2514600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bfloat16 AMP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971800"/>
            <a:ext cx="1627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EC8"/>
                </a:solidFill>
              </a:rPr>
              <a:t>A100 Tensor Core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EC8"/>
                </a:solidFill>
              </a:rPr>
              <a:t>하드웨어 가속 활용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47488" y="1920240"/>
            <a:ext cx="1810512" cy="201168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20116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138928" y="2514600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Gradient Checkpointing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38928" y="2971800"/>
            <a:ext cx="1627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EC8"/>
                </a:solidFill>
              </a:rPr>
              <a:t>pair repr VRAM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EC8"/>
                </a:solidFill>
              </a:rPr>
              <a:t>최적화 (OOM 방지)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86016" y="1920240"/>
            <a:ext cx="1810512" cy="201168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86016" y="201168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🔀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077456" y="2514600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DDP (DistributedDataParallel)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77456" y="2971800"/>
            <a:ext cx="1627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EC8"/>
                </a:solidFill>
              </a:rPr>
              <a:t>NCCL 백엔드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EC8"/>
                </a:solidFill>
              </a:rPr>
              <a:t>멀티 GPU 학습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08960" y="4114800"/>
            <a:ext cx="5760720" cy="640080"/>
          </a:xfrm>
          <a:prstGeom prst="rect">
            <a:avLst/>
          </a:prstGeom>
          <a:solidFill>
            <a:srgbClr val="05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41605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torchrun --nproc_per_node=2 scripts/train.py --config configs/default.yaml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감사합니다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EC8"/>
                </a:solidFill>
              </a:rPr>
              <a:t>Multimodal DTI — Evoformer + ChemBERTa Binding Affinity Prediction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3246120"/>
            <a:ext cx="27432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EC8"/>
                </a:solidFill>
              </a:rPr>
              <a:t>Multimodal Team  ·  김보형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4114800"/>
            <a:ext cx="1600200" cy="347472"/>
          </a:xfrm>
          <a:prstGeom prst="rect">
            <a:avLst/>
          </a:prstGeom>
          <a:solidFill>
            <a:srgbClr val="1620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41148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</a:rPr>
              <a:t>Python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93392" y="4114800"/>
            <a:ext cx="1600200" cy="347472"/>
          </a:xfrm>
          <a:prstGeom prst="rect">
            <a:avLst/>
          </a:prstGeom>
          <a:solidFill>
            <a:srgbClr val="1620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41148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</a:rPr>
              <a:t>PyTorch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58184" y="4114800"/>
            <a:ext cx="1600200" cy="347472"/>
          </a:xfrm>
          <a:prstGeom prst="rect">
            <a:avLst/>
          </a:prstGeom>
          <a:solidFill>
            <a:srgbClr val="1620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41148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</a:rPr>
              <a:t>C++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22976" y="4114800"/>
            <a:ext cx="1600200" cy="347472"/>
          </a:xfrm>
          <a:prstGeom prst="rect">
            <a:avLst/>
          </a:prstGeom>
          <a:solidFill>
            <a:srgbClr val="1620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22976" y="41148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</a:rPr>
              <a:t>HuggingFace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87768" y="4114800"/>
            <a:ext cx="1600200" cy="347472"/>
          </a:xfrm>
          <a:prstGeom prst="rect">
            <a:avLst/>
          </a:prstGeom>
          <a:solidFill>
            <a:srgbClr val="1620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87768" y="41148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</a:rPr>
              <a:t>A100 × 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394</Words>
  <Application>Microsoft Office PowerPoint</Application>
  <PresentationFormat>화면 슬라이드 쇼(16:9)</PresentationFormat>
  <Paragraphs>118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DTI — Evoformer + ChemBERTa</dc:title>
  <dc:subject>PptxGenJS Presentation</dc:subject>
  <dc:creator>PptxGenJS</dc:creator>
  <cp:lastModifiedBy>민정 김</cp:lastModifiedBy>
  <cp:revision>3</cp:revision>
  <dcterms:created xsi:type="dcterms:W3CDTF">2026-04-28T09:23:13Z</dcterms:created>
  <dcterms:modified xsi:type="dcterms:W3CDTF">2026-04-28T09:33:37Z</dcterms:modified>
</cp:coreProperties>
</file>