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9" r:id="rId4"/>
    <p:sldId id="270" r:id="rId5"/>
    <p:sldId id="271" r:id="rId6"/>
    <p:sldId id="272" r:id="rId7"/>
    <p:sldId id="268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10"/>
    <p:restoredTop sz="63256" autoAdjust="0"/>
  </p:normalViewPr>
  <p:slideViewPr>
    <p:cSldViewPr snapToGrid="0">
      <p:cViewPr varScale="1">
        <p:scale>
          <a:sx n="61" d="100"/>
          <a:sy n="61" d="100"/>
        </p:scale>
        <p:origin x="200" y="7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FA988BC-0EB9-DEEF-9115-0FD3A22E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04A2B30-7B70-808F-447A-FBC3533CE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E4EB087E-ED97-A10E-A0D4-72303C0B0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6826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2ACE103-0993-0972-333F-8BA7302D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6DCF5D1-3FB9-E3A1-2CAE-56FA9F308A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65739CFE-279A-B91B-7E40-C7CF7D958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8724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0BE7DA8-20CF-645C-1394-597335640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4CE4EBED-DD0B-84FA-09A5-D19950944F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FDA669F-1335-E775-0CCB-1C3EE43396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8630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0138968-6A4D-4B98-1041-BA6D7C12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4CF60042-0175-42F3-51BD-EFA3343AF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7F80DC6-59F7-D76B-F52C-DC6699A8E2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563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C34B5B4-B0A1-A072-B5BA-B7532635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F0F45BC-021C-034E-0050-943A21B9A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F9DFB91-9D77-14A9-0249-F2A803CFD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0389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0BBD54E-EBB9-385E-1AC3-6C2BB72F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A1E032A3-CA45-AD46-4E64-72BFFD2A5A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395EEEC6-54CB-53F1-DCF1-B9F03957D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4122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6831484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500" b="1" dirty="0">
                <a:solidFill>
                  <a:srgbClr val="19264B"/>
                </a:solidFill>
              </a:rPr>
              <a:t>Advanced </a:t>
            </a:r>
            <a:r>
              <a:rPr lang="ko-KR" altLang="en-US" sz="2500" b="1" dirty="0">
                <a:solidFill>
                  <a:srgbClr val="19264B"/>
                </a:solidFill>
              </a:rPr>
              <a:t>프로젝트 </a:t>
            </a:r>
            <a:r>
              <a:rPr lang="en-US" altLang="ko-KR" sz="2500" b="1" dirty="0">
                <a:solidFill>
                  <a:srgbClr val="19264B"/>
                </a:solidFill>
              </a:rPr>
              <a:t>SP</a:t>
            </a:r>
            <a:r>
              <a:rPr lang="ko-KR" altLang="en-US" sz="2500" b="1" dirty="0">
                <a:solidFill>
                  <a:srgbClr val="19264B"/>
                </a:solidFill>
              </a:rPr>
              <a:t> </a:t>
            </a:r>
            <a:r>
              <a:rPr lang="en-US" altLang="ko-KR" sz="2500" b="1" dirty="0">
                <a:solidFill>
                  <a:srgbClr val="19264B"/>
                </a:solidFill>
              </a:rPr>
              <a:t>1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  <a:endParaRPr sz="20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6</a:t>
            </a:r>
            <a:r>
              <a:rPr lang="ko" dirty="0">
                <a:solidFill>
                  <a:srgbClr val="19264B"/>
                </a:solidFill>
              </a:rPr>
              <a:t>.03.</a:t>
            </a:r>
            <a:r>
              <a:rPr lang="en-US" altLang="ko" dirty="0">
                <a:solidFill>
                  <a:srgbClr val="19264B"/>
                </a:solidFill>
              </a:rPr>
              <a:t>10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</a:t>
            </a:r>
            <a:r>
              <a:rPr lang="ko-KR" altLang="en-US" sz="1100" dirty="0">
                <a:solidFill>
                  <a:srgbClr val="19264B"/>
                </a:solidFill>
              </a:rPr>
              <a:t> 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6469109-1C27-F819-02EA-96FA1D3F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DAE1D1E4-7E9E-3CA6-C4A2-E2159C3AB82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56F6731D-115E-65A2-1C6D-B475C6992EDA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 err="1">
                <a:solidFill>
                  <a:srgbClr val="19264B"/>
                </a:solidFill>
              </a:rPr>
              <a:t>스터디원</a:t>
            </a:r>
            <a:r>
              <a:rPr lang="ko-KR" altLang="en-US" sz="2500" b="1" dirty="0">
                <a:solidFill>
                  <a:srgbClr val="19264B"/>
                </a:solidFill>
              </a:rPr>
              <a:t> 소개 및 만남 인증</a:t>
            </a:r>
            <a:endParaRPr lang="en-US" altLang="ko-KR" sz="25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04BDFE1-DE29-B960-5655-82F8762E036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D5A98D8F-A844-464E-F4E6-CE69473EB2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D74EF2F6-59C2-CCC2-5734-C2EF216BCC49}"/>
              </a:ext>
            </a:extLst>
          </p:cNvPr>
          <p:cNvSpPr txBox="1"/>
          <p:nvPr/>
        </p:nvSpPr>
        <p:spPr>
          <a:xfrm>
            <a:off x="6435428" y="2142962"/>
            <a:ext cx="1898675" cy="114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팀원 </a:t>
            </a:r>
            <a:r>
              <a:rPr lang="en-US" altLang="ko-KR" sz="1800" dirty="0">
                <a:solidFill>
                  <a:srgbClr val="19264B"/>
                </a:solidFill>
              </a:rPr>
              <a:t>1:</a:t>
            </a:r>
            <a:r>
              <a:rPr lang="ko-KR" altLang="en-US" sz="1800" dirty="0">
                <a:solidFill>
                  <a:srgbClr val="19264B"/>
                </a:solidFill>
              </a:rPr>
              <a:t> 김동건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팀원 </a:t>
            </a:r>
            <a:r>
              <a:rPr lang="en-US" altLang="ko-KR" sz="1800" dirty="0">
                <a:solidFill>
                  <a:srgbClr val="19264B"/>
                </a:solidFill>
              </a:rPr>
              <a:t>2:</a:t>
            </a:r>
            <a:r>
              <a:rPr lang="ko-KR" altLang="en-US" sz="1800" dirty="0">
                <a:solidFill>
                  <a:srgbClr val="19264B"/>
                </a:solidFill>
              </a:rPr>
              <a:t> 최영현</a:t>
            </a:r>
            <a:endParaRPr lang="en-US" altLang="ko-KR" sz="1800" dirty="0">
              <a:solidFill>
                <a:srgbClr val="19264B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AEEAFB-B158-FFE3-4EDF-8D450E0B726D}"/>
              </a:ext>
            </a:extLst>
          </p:cNvPr>
          <p:cNvSpPr/>
          <p:nvPr/>
        </p:nvSpPr>
        <p:spPr>
          <a:xfrm>
            <a:off x="1502229" y="1055550"/>
            <a:ext cx="4493622" cy="350338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391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A85C5F2-DCD1-DBC6-5A52-146B4A77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B04EC7A9-9139-BA3A-F309-130879231F4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CEFDAE45-1C7C-8568-8CAE-42BFE8176DB6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프로젝트 주제</a:t>
            </a:r>
            <a:endParaRPr lang="en-US" altLang="ko-KR" sz="25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BA5A2E72-81D2-EB9C-9409-AC578533F33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F685A893-D9B2-B867-FF86-26FFBF3512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201E68EE-B9C7-8DEE-AA29-41E788400F8B}"/>
              </a:ext>
            </a:extLst>
          </p:cNvPr>
          <p:cNvSpPr txBox="1"/>
          <p:nvPr/>
        </p:nvSpPr>
        <p:spPr>
          <a:xfrm>
            <a:off x="1353975" y="803958"/>
            <a:ext cx="7382831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아이디어 발단</a:t>
            </a:r>
            <a:r>
              <a:rPr lang="en-US" altLang="ko-KR" sz="1800" dirty="0">
                <a:solidFill>
                  <a:srgbClr val="19264B"/>
                </a:solidFill>
              </a:rPr>
              <a:t>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음성 합성이 발전하며 여러 </a:t>
            </a:r>
            <a:r>
              <a:rPr lang="en-US" altLang="ko-KR" sz="1800" dirty="0">
                <a:solidFill>
                  <a:srgbClr val="19264B"/>
                </a:solidFill>
              </a:rPr>
              <a:t>TTS </a:t>
            </a:r>
            <a:r>
              <a:rPr lang="ko-KR" altLang="en-US" sz="1800" dirty="0">
                <a:solidFill>
                  <a:srgbClr val="19264B"/>
                </a:solidFill>
              </a:rPr>
              <a:t>모델이 만들어졌지만</a:t>
            </a:r>
            <a:r>
              <a:rPr lang="en-US" altLang="ko-KR" sz="1800" dirty="0">
                <a:solidFill>
                  <a:srgbClr val="19264B"/>
                </a:solidFill>
              </a:rPr>
              <a:t>,</a:t>
            </a:r>
            <a:r>
              <a:rPr lang="ko-KR" altLang="en-US" sz="1800" dirty="0">
                <a:solidFill>
                  <a:srgbClr val="19264B"/>
                </a:solidFill>
              </a:rPr>
              <a:t> 한국의 여러 방언을 수준급으로 구사하는</a:t>
            </a:r>
            <a:r>
              <a:rPr lang="en-US" altLang="ko-KR" sz="1800" dirty="0">
                <a:solidFill>
                  <a:srgbClr val="19264B"/>
                </a:solidFill>
              </a:rPr>
              <a:t> TTS</a:t>
            </a:r>
            <a:r>
              <a:rPr lang="ko-KR" altLang="en-US" sz="1800" dirty="0">
                <a:solidFill>
                  <a:srgbClr val="19264B"/>
                </a:solidFill>
              </a:rPr>
              <a:t>는 찾아보기 힘듦</a:t>
            </a:r>
            <a:endParaRPr lang="en-US" altLang="ko-KR" sz="1800" dirty="0">
              <a:solidFill>
                <a:srgbClr val="19264B"/>
              </a:solidFill>
            </a:endParaRPr>
          </a:p>
        </p:txBody>
      </p:sp>
      <p:pic>
        <p:nvPicPr>
          <p:cNvPr id="5" name="그림 4" descr="텍스트, 폰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1F5527-1C9C-4D7B-FD63-65717BED6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75" y="2694744"/>
            <a:ext cx="3731862" cy="2020947"/>
          </a:xfrm>
          <a:prstGeom prst="rect">
            <a:avLst/>
          </a:prstGeom>
        </p:spPr>
      </p:pic>
      <p:pic>
        <p:nvPicPr>
          <p:cNvPr id="7" name="그림 6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69D206-B83E-9293-CC10-F6376B9EA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1415" y="2360655"/>
            <a:ext cx="3162957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3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113B361-AD81-C6E3-5E06-54798372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AC31B7D1-2D8E-4EAF-07DE-5CB44697BDE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AD9CC0BE-CE6A-1ED1-1567-41AF1179E61C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프로젝트 주제</a:t>
            </a:r>
            <a:endParaRPr lang="en-US" altLang="ko-KR" sz="25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E3348DF-82C5-7F07-7466-892D55975C5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4936D984-6129-A083-480F-39C6E79BA4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EB41268D-A572-491C-15BF-B840BC82C9AF}"/>
              </a:ext>
            </a:extLst>
          </p:cNvPr>
          <p:cNvSpPr txBox="1"/>
          <p:nvPr/>
        </p:nvSpPr>
        <p:spPr>
          <a:xfrm>
            <a:off x="1353963" y="1205237"/>
            <a:ext cx="7502642" cy="273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목표</a:t>
            </a:r>
            <a:r>
              <a:rPr lang="en-US" altLang="ko-KR" sz="1800" dirty="0">
                <a:solidFill>
                  <a:srgbClr val="19264B"/>
                </a:solidFill>
              </a:rPr>
              <a:t>:</a:t>
            </a:r>
            <a:r>
              <a:rPr lang="ko-KR" altLang="en-US" sz="1800" dirty="0">
                <a:solidFill>
                  <a:srgbClr val="19264B"/>
                </a:solidFill>
              </a:rPr>
              <a:t> 대한민국의 여러 방언을 사용할 수 있는 </a:t>
            </a:r>
            <a:r>
              <a:rPr lang="en-US" altLang="ko-KR" sz="1800" dirty="0">
                <a:solidFill>
                  <a:srgbClr val="19264B"/>
                </a:solidFill>
              </a:rPr>
              <a:t>TTS</a:t>
            </a:r>
            <a:r>
              <a:rPr lang="ko-KR" altLang="en-US" sz="1800" dirty="0">
                <a:solidFill>
                  <a:srgbClr val="19264B"/>
                </a:solidFill>
              </a:rPr>
              <a:t> 모델 학습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800" dirty="0">
                <a:solidFill>
                  <a:srgbClr val="19264B"/>
                </a:solidFill>
              </a:rPr>
              <a:t>경상도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800" dirty="0">
                <a:solidFill>
                  <a:srgbClr val="19264B"/>
                </a:solidFill>
              </a:rPr>
              <a:t>전라도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800" dirty="0">
                <a:solidFill>
                  <a:srgbClr val="19264B"/>
                </a:solidFill>
              </a:rPr>
              <a:t>충청도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800" dirty="0">
                <a:solidFill>
                  <a:srgbClr val="19264B"/>
                </a:solidFill>
              </a:rPr>
              <a:t>강원도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800" dirty="0">
                <a:solidFill>
                  <a:srgbClr val="19264B"/>
                </a:solidFill>
              </a:rPr>
              <a:t>제주도 </a:t>
            </a:r>
            <a:r>
              <a:rPr lang="en-US" altLang="ko-KR" sz="1800" dirty="0">
                <a:solidFill>
                  <a:srgbClr val="19264B"/>
                </a:solidFill>
              </a:rPr>
              <a:t>(</a:t>
            </a:r>
            <a:r>
              <a:rPr lang="ko-KR" altLang="en-US" sz="1800" dirty="0">
                <a:solidFill>
                  <a:srgbClr val="19264B"/>
                </a:solidFill>
              </a:rPr>
              <a:t>제주도 방언 </a:t>
            </a:r>
            <a:r>
              <a:rPr lang="en-US" altLang="ko-KR" sz="1800" dirty="0">
                <a:solidFill>
                  <a:srgbClr val="19264B"/>
                </a:solidFill>
              </a:rPr>
              <a:t>TTS </a:t>
            </a:r>
            <a:r>
              <a:rPr lang="ko-KR" altLang="en-US" sz="1800" dirty="0">
                <a:solidFill>
                  <a:srgbClr val="19264B"/>
                </a:solidFill>
              </a:rPr>
              <a:t>모델은 다른 방언들에 비해 찾기 수월하였으므로 후순위로 미룸</a:t>
            </a:r>
            <a:r>
              <a:rPr lang="en-US" altLang="ko-KR" sz="1800" dirty="0">
                <a:solidFill>
                  <a:srgbClr val="19264B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720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C77527E-2CF9-9282-B0AF-FB14A85B7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6D92369D-1677-2C76-BC3A-41F67935A74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48675F10-6E15-074A-87A1-DC9DC8BE0681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프로젝트 주제</a:t>
            </a:r>
            <a:endParaRPr lang="en-US" altLang="ko-KR" sz="25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7AC57AAF-3C82-C9DB-30F4-B4134769238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F6672E6E-AF86-978A-318D-44F656C5F98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9B2CBB4A-A240-7F58-30B1-F79ABC9E3754}"/>
              </a:ext>
            </a:extLst>
          </p:cNvPr>
          <p:cNvSpPr txBox="1"/>
          <p:nvPr/>
        </p:nvSpPr>
        <p:spPr>
          <a:xfrm>
            <a:off x="1353963" y="1205237"/>
            <a:ext cx="7502642" cy="273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접근 방법 및 구현 목표</a:t>
            </a:r>
            <a:r>
              <a:rPr lang="en-US" altLang="ko-KR" sz="1800" dirty="0">
                <a:solidFill>
                  <a:srgbClr val="19264B"/>
                </a:solidFill>
              </a:rPr>
              <a:t>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800" dirty="0">
                <a:solidFill>
                  <a:srgbClr val="19264B"/>
                </a:solidFill>
              </a:rPr>
              <a:t>단일 방언 전용 </a:t>
            </a:r>
            <a:r>
              <a:rPr lang="en-US" altLang="ko-KR" sz="1800" dirty="0">
                <a:solidFill>
                  <a:srgbClr val="19264B"/>
                </a:solidFill>
              </a:rPr>
              <a:t>TTS</a:t>
            </a:r>
            <a:br>
              <a:rPr lang="en-US" altLang="ko-KR" sz="1800" dirty="0">
                <a:solidFill>
                  <a:srgbClr val="19264B"/>
                </a:solidFill>
              </a:rPr>
            </a:br>
            <a:r>
              <a:rPr lang="en-US" altLang="ko-KR" sz="1800" dirty="0">
                <a:solidFill>
                  <a:srgbClr val="19264B"/>
                </a:solidFill>
              </a:rPr>
              <a:t>- Style-VITS…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sz="1800" dirty="0">
                <a:solidFill>
                  <a:srgbClr val="19264B"/>
                </a:solidFill>
              </a:rPr>
              <a:t>Controllable TTS</a:t>
            </a:r>
            <a:br>
              <a:rPr lang="en-US" altLang="ko-KR" sz="1800" dirty="0">
                <a:solidFill>
                  <a:srgbClr val="19264B"/>
                </a:solidFill>
              </a:rPr>
            </a:br>
            <a:r>
              <a:rPr lang="en-US" altLang="ko-KR" sz="1800" dirty="0">
                <a:solidFill>
                  <a:srgbClr val="19264B"/>
                </a:solidFill>
              </a:rPr>
              <a:t>- 1.</a:t>
            </a:r>
            <a:r>
              <a:rPr lang="ko-KR" altLang="en-US" sz="1800" dirty="0">
                <a:solidFill>
                  <a:srgbClr val="19264B"/>
                </a:solidFill>
              </a:rPr>
              <a:t> </a:t>
            </a:r>
            <a:r>
              <a:rPr lang="en-US" altLang="ko-KR" sz="1800" dirty="0">
                <a:solidFill>
                  <a:srgbClr val="19264B"/>
                </a:solidFill>
              </a:rPr>
              <a:t>dialect token</a:t>
            </a:r>
            <a:r>
              <a:rPr lang="ko-KR" altLang="en-US" sz="1800" dirty="0">
                <a:solidFill>
                  <a:srgbClr val="19264B"/>
                </a:solidFill>
              </a:rPr>
              <a:t>을 추가하여 단일 모델로 여러 방언을 선택하여 생성할 수 있게 함</a:t>
            </a:r>
            <a:br>
              <a:rPr lang="en-US" altLang="ko-KR" sz="1800" dirty="0">
                <a:solidFill>
                  <a:srgbClr val="19264B"/>
                </a:solidFill>
              </a:rPr>
            </a:br>
            <a:r>
              <a:rPr lang="en-US" altLang="ko-KR" sz="1800" dirty="0">
                <a:solidFill>
                  <a:srgbClr val="19264B"/>
                </a:solidFill>
              </a:rPr>
              <a:t>-</a:t>
            </a:r>
            <a:r>
              <a:rPr lang="ko-KR" altLang="en-US" sz="1800" dirty="0">
                <a:solidFill>
                  <a:srgbClr val="19264B"/>
                </a:solidFill>
              </a:rPr>
              <a:t> </a:t>
            </a:r>
            <a:r>
              <a:rPr lang="en-US" altLang="ko-KR" sz="1800" dirty="0">
                <a:solidFill>
                  <a:srgbClr val="19264B"/>
                </a:solidFill>
              </a:rPr>
              <a:t>2.</a:t>
            </a:r>
            <a:r>
              <a:rPr lang="ko-KR" altLang="en-US" sz="1800" dirty="0">
                <a:solidFill>
                  <a:srgbClr val="19264B"/>
                </a:solidFill>
              </a:rPr>
              <a:t> </a:t>
            </a:r>
            <a:r>
              <a:rPr lang="en-US" altLang="ko-KR" sz="1800" dirty="0">
                <a:solidFill>
                  <a:srgbClr val="19264B"/>
                </a:solidFill>
              </a:rPr>
              <a:t>dialect strength</a:t>
            </a:r>
            <a:r>
              <a:rPr lang="ko-KR" altLang="en-US" sz="1800" dirty="0" err="1">
                <a:solidFill>
                  <a:srgbClr val="19264B"/>
                </a:solidFill>
              </a:rPr>
              <a:t>를</a:t>
            </a:r>
            <a:r>
              <a:rPr lang="ko-KR" altLang="en-US" sz="1800" dirty="0">
                <a:solidFill>
                  <a:srgbClr val="19264B"/>
                </a:solidFill>
              </a:rPr>
              <a:t> 통해 방언의 강도를 조절 가능하게 함</a:t>
            </a:r>
            <a:endParaRPr lang="en-US" altLang="ko-KR" sz="1800" dirty="0">
              <a:solidFill>
                <a:srgbClr val="1926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13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3C8FC1C-0E77-FD0A-6465-3815793C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A152D672-FFC2-9CFE-76A9-6E724B85356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E96BDA13-1D3D-0827-A603-C0BAA62435F1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프로젝트 주제</a:t>
            </a:r>
            <a:endParaRPr lang="en-US" altLang="ko-KR" sz="25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77AD266-36F0-7DEF-7300-FB9888810CA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91E63072-EFA5-6ED9-0617-D565AFC5D2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7DEB9CFC-AC0C-02EA-D30A-FEF3257C7859}"/>
              </a:ext>
            </a:extLst>
          </p:cNvPr>
          <p:cNvSpPr txBox="1"/>
          <p:nvPr/>
        </p:nvSpPr>
        <p:spPr>
          <a:xfrm>
            <a:off x="1353963" y="1205237"/>
            <a:ext cx="7502642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현재 단계</a:t>
            </a:r>
            <a:r>
              <a:rPr lang="en-US" altLang="ko-KR" sz="1800" dirty="0">
                <a:solidFill>
                  <a:srgbClr val="19264B"/>
                </a:solidFill>
              </a:rPr>
              <a:t>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경상도 사투리 전용 단일 </a:t>
            </a:r>
            <a:r>
              <a:rPr lang="en-US" altLang="ko-KR" sz="1800" dirty="0">
                <a:solidFill>
                  <a:srgbClr val="19264B"/>
                </a:solidFill>
              </a:rPr>
              <a:t>TTS</a:t>
            </a:r>
            <a:r>
              <a:rPr lang="ko-KR" altLang="en-US" sz="1800" dirty="0">
                <a:solidFill>
                  <a:srgbClr val="19264B"/>
                </a:solidFill>
              </a:rPr>
              <a:t> 모델 구현을 위해 데이터 수집 및 관련 논문 탐색 </a:t>
            </a:r>
            <a:endParaRPr lang="en-US" altLang="ko-KR" sz="1800" dirty="0">
              <a:solidFill>
                <a:srgbClr val="1926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61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3AB6583-2483-8C78-B5B0-BD733AEE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42971BA7-0E05-C4AE-2574-9FF8CA74D1F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02864EC8-6E56-99F2-FE13-4F48F59C6291}"/>
              </a:ext>
            </a:extLst>
          </p:cNvPr>
          <p:cNvSpPr txBox="1"/>
          <p:nvPr/>
        </p:nvSpPr>
        <p:spPr>
          <a:xfrm>
            <a:off x="1777073" y="1925434"/>
            <a:ext cx="6831484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4800" b="1" dirty="0">
                <a:solidFill>
                  <a:srgbClr val="19264B"/>
                </a:solidFill>
              </a:rPr>
              <a:t>감사합니다</a:t>
            </a:r>
            <a:endParaRPr lang="en-US" altLang="ko-KR" sz="48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A3FF8374-6131-F632-96C0-F6FE1D3FE9F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A08B9C54-F657-D515-4B77-B67C3B4002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315930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1981</TotalTime>
  <Words>152</Words>
  <Application>Microsoft Macintosh PowerPoint</Application>
  <PresentationFormat>화면 슬라이드 쇼(16:9)</PresentationFormat>
  <Paragraphs>38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정성룡</dc:creator>
  <cp:lastModifiedBy>유서연</cp:lastModifiedBy>
  <cp:revision>41</cp:revision>
  <dcterms:modified xsi:type="dcterms:W3CDTF">2026-04-27T13:01:18Z</dcterms:modified>
</cp:coreProperties>
</file>