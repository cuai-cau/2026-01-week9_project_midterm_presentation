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59" r:id="rId6"/>
    <p:sldId id="261" r:id="rId7"/>
    <p:sldId id="263" r:id="rId8"/>
    <p:sldId id="264" r:id="rId9"/>
    <p:sldId id="260" r:id="rId10"/>
  </p:sldIdLst>
  <p:sldSz cx="9144000" cy="5143500" type="screen16x9"/>
  <p:notesSz cx="6858000" cy="9144000"/>
  <p:embeddedFontLst>
    <p:embeddedFont>
      <p:font typeface="Nanum Gothic" panose="020B0600000101010101" charset="-127"/>
      <p:regular r:id="rId12"/>
      <p:bold r:id="rId13"/>
    </p:embeddedFont>
    <p:embeddedFont>
      <p:font typeface="NanumGothicExtraBold" panose="020D0904000000000000" pitchFamily="50" charset="-127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162D870-C4CE-5273-2679-A6F9EB88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B45D1CF3-D559-2A0B-3DF2-27FE46A43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59FA8D64-B949-D0B3-A07E-33821E971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001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8CC4918-B3A7-744D-23A7-6999556C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A7555CF1-FB0A-AEC1-3709-3845674E4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006BE88D-FD45-0F00-2944-8CB4B6AD1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709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07F861F-FF8D-2E21-4D36-29C3D1DB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7407C84D-73CF-8E32-3AA3-0B5C99018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AF909CDF-384F-B470-E4E3-E3B961E55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059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FD7E7E8-BC06-AE5B-6C84-14EC52BD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6CD25B5B-ABA4-61D5-ED80-C5A5DE467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F4635B32-AFCD-9827-12C5-91540A7B8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926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Basic 8</a:t>
            </a:r>
            <a:r>
              <a:rPr lang="ko-KR" altLang="en-US" sz="2500" b="1" dirty="0">
                <a:solidFill>
                  <a:srgbClr val="19264B"/>
                </a:solidFill>
              </a:rPr>
              <a:t>조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4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주찬진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137600" y="1820125"/>
            <a:ext cx="2282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박상현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/>
              <a:t>박수현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엄지용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4 : </a:t>
            </a:r>
            <a:r>
              <a:rPr lang="ko-KR" altLang="en-US" dirty="0"/>
              <a:t>주찬진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00B913-3309-B3C9-78D0-941C603A2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192" y="1185862"/>
            <a:ext cx="1954292" cy="3281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41BE2-9094-8AE4-0617-1B2D444546EF}"/>
              </a:ext>
            </a:extLst>
          </p:cNvPr>
          <p:cNvSpPr txBox="1"/>
          <p:nvPr/>
        </p:nvSpPr>
        <p:spPr>
          <a:xfrm>
            <a:off x="3375198" y="1414638"/>
            <a:ext cx="2393604" cy="231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latinLnBrk="1">
              <a:lnSpc>
                <a:spcPct val="150000"/>
              </a:lnSpc>
            </a:pPr>
            <a:r>
              <a:rPr lang="en-US" altLang="ko-KR" b="1" dirty="0"/>
              <a:t>1. </a:t>
            </a:r>
            <a:r>
              <a:rPr lang="ko-KR" altLang="ko-KR" b="1" dirty="0"/>
              <a:t>주제 선정</a:t>
            </a:r>
          </a:p>
          <a:p>
            <a:pPr lvl="1" latinLnBrk="1">
              <a:lnSpc>
                <a:spcPct val="150000"/>
              </a:lnSpc>
            </a:pPr>
            <a:r>
              <a:rPr lang="en-US" altLang="ko-KR" dirty="0"/>
              <a:t>	- </a:t>
            </a:r>
            <a:r>
              <a:rPr lang="ko-KR" altLang="ko-KR" dirty="0"/>
              <a:t>주제 탐구 </a:t>
            </a:r>
          </a:p>
          <a:p>
            <a:pPr lvl="1" latinLnBrk="1">
              <a:lnSpc>
                <a:spcPct val="150000"/>
              </a:lnSpc>
            </a:pPr>
            <a:r>
              <a:rPr lang="en-US" altLang="ko-KR" dirty="0"/>
              <a:t>	- </a:t>
            </a:r>
            <a:r>
              <a:rPr lang="ko-KR" altLang="ko-KR" dirty="0"/>
              <a:t>주제 선정 이유</a:t>
            </a:r>
            <a:endParaRPr lang="en-US" altLang="ko-KR" dirty="0"/>
          </a:p>
          <a:p>
            <a:pPr lvl="1" latinLnBrk="1">
              <a:lnSpc>
                <a:spcPct val="150000"/>
              </a:lnSpc>
            </a:pPr>
            <a:endParaRPr lang="ko-KR" altLang="ko-KR" b="1" dirty="0"/>
          </a:p>
          <a:p>
            <a:pPr lvl="0" latinLnBrk="1"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ko-KR" b="1" dirty="0"/>
              <a:t>프로젝트 소개</a:t>
            </a:r>
          </a:p>
          <a:p>
            <a:pPr lvl="1" latinLnBrk="1">
              <a:lnSpc>
                <a:spcPct val="150000"/>
              </a:lnSpc>
            </a:pPr>
            <a:r>
              <a:rPr lang="en-US" altLang="ko-KR" dirty="0"/>
              <a:t>	- </a:t>
            </a:r>
            <a:r>
              <a:rPr lang="ko-KR" altLang="ko-KR" dirty="0"/>
              <a:t>데이터 소개</a:t>
            </a:r>
          </a:p>
          <a:p>
            <a:pPr lvl="1" latinLnBrk="1">
              <a:lnSpc>
                <a:spcPct val="150000"/>
              </a:lnSpc>
            </a:pPr>
            <a:r>
              <a:rPr lang="en-US" altLang="ko-KR" dirty="0"/>
              <a:t>	- </a:t>
            </a:r>
            <a:r>
              <a:rPr lang="ko-KR" altLang="ko-KR" dirty="0"/>
              <a:t>프로젝트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4381079-EF9C-8F96-26D7-F69AD34D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B7365A5-1330-D75C-2B68-41FBFC2571A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F3BF8568-6B85-C406-8CC8-6FD61F41055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119975FB-0201-ACC3-6A19-D3E6DA13F7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80184494-49D6-77C7-B92F-38177C763DD8}"/>
              </a:ext>
            </a:extLst>
          </p:cNvPr>
          <p:cNvSpPr txBox="1"/>
          <p:nvPr/>
        </p:nvSpPr>
        <p:spPr>
          <a:xfrm>
            <a:off x="1423263" y="328306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A2EC51-D527-70BC-6519-F557473EC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166" y="866885"/>
            <a:ext cx="3303110" cy="382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64877A8-B03B-82C8-A97A-75E2B4F0BB8A}"/>
              </a:ext>
            </a:extLst>
          </p:cNvPr>
          <p:cNvSpPr/>
          <p:nvPr/>
        </p:nvSpPr>
        <p:spPr>
          <a:xfrm>
            <a:off x="1707356" y="1260876"/>
            <a:ext cx="2864644" cy="6715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분석에서의 </a:t>
            </a:r>
            <a:r>
              <a:rPr lang="en-US" altLang="ko-KR" dirty="0"/>
              <a:t>AI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4C0C3-DD2E-5965-E362-9A6860CBD731}"/>
              </a:ext>
            </a:extLst>
          </p:cNvPr>
          <p:cNvSpPr txBox="1"/>
          <p:nvPr/>
        </p:nvSpPr>
        <p:spPr>
          <a:xfrm>
            <a:off x="5750719" y="1085851"/>
            <a:ext cx="2079415" cy="1021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인간이 발견하기 힘든</a:t>
            </a:r>
            <a:r>
              <a:rPr lang="en-US" altLang="ko-KR" dirty="0"/>
              <a:t>…</a:t>
            </a:r>
            <a:br>
              <a:rPr lang="en-US" altLang="ko-KR" dirty="0"/>
            </a:br>
            <a:r>
              <a:rPr lang="en-US" altLang="ko-KR" b="1" dirty="0"/>
              <a:t>- </a:t>
            </a:r>
            <a:r>
              <a:rPr lang="ko-KR" altLang="en-US" b="1" u="sng" dirty="0"/>
              <a:t>패턴 분석</a:t>
            </a:r>
            <a:endParaRPr lang="en-US" altLang="ko-KR" b="1" u="sng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ko-KR" altLang="en-US" b="1" u="sng" dirty="0"/>
              <a:t>인사이트 발견</a:t>
            </a:r>
          </a:p>
        </p:txBody>
      </p:sp>
      <p:pic>
        <p:nvPicPr>
          <p:cNvPr id="1026" name="Picture 2" descr="그린채널 - 개발자만 이해하는 코딩 유우-머">
            <a:extLst>
              <a:ext uri="{FF2B5EF4-FFF2-40B4-BE49-F238E27FC236}">
                <a16:creationId xmlns:a16="http://schemas.microsoft.com/office/drawing/2014/main" id="{99090DB4-4A5A-0763-E552-D583F12E9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31" y="2718191"/>
            <a:ext cx="1771650" cy="22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612DB450-82B1-A98F-F6B5-06585ED4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B90435F-790C-ECA0-4665-21508E10D6D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E78B4989-1CC5-4239-9352-ED747963FAF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EC8D9B5-3113-F78A-93F4-AED315B861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A673336-C5C4-4779-7760-634C6BB6FF08}"/>
              </a:ext>
            </a:extLst>
          </p:cNvPr>
          <p:cNvSpPr txBox="1"/>
          <p:nvPr/>
        </p:nvSpPr>
        <p:spPr>
          <a:xfrm>
            <a:off x="1353975" y="30668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8811A9-2D7C-0C1A-0CE0-EE9AA82EE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735" y="1190702"/>
            <a:ext cx="2190940" cy="3100387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643C147B-04B3-4A46-9901-6DBFD34E71B9}"/>
              </a:ext>
            </a:extLst>
          </p:cNvPr>
          <p:cNvSpPr/>
          <p:nvPr/>
        </p:nvSpPr>
        <p:spPr>
          <a:xfrm>
            <a:off x="2131692" y="2862801"/>
            <a:ext cx="1343025" cy="33141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3867-730B-9378-F6F7-89C171F599CA}"/>
              </a:ext>
            </a:extLst>
          </p:cNvPr>
          <p:cNvSpPr txBox="1"/>
          <p:nvPr/>
        </p:nvSpPr>
        <p:spPr>
          <a:xfrm>
            <a:off x="5429941" y="2060969"/>
            <a:ext cx="3175869" cy="1021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u="sng" dirty="0"/>
              <a:t>공모 주제</a:t>
            </a:r>
            <a:endParaRPr lang="en-US" altLang="ko-KR" b="1" u="sng" dirty="0"/>
          </a:p>
          <a:p>
            <a:pPr>
              <a:lnSpc>
                <a:spcPct val="150000"/>
              </a:lnSpc>
            </a:pPr>
            <a:r>
              <a:rPr lang="en-US" altLang="ko-KR" dirty="0"/>
              <a:t>: </a:t>
            </a:r>
            <a:r>
              <a:rPr lang="ko-KR" altLang="en-US" dirty="0"/>
              <a:t>통계를 오해하거나 해석을 잘못하여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오용 또는 왜곡된 통계 사례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22BB2E9-4B1C-581C-0B78-7CC71F66D419}"/>
              </a:ext>
            </a:extLst>
          </p:cNvPr>
          <p:cNvCxnSpPr>
            <a:stCxn id="4" idx="6"/>
            <a:endCxn id="7" idx="1"/>
          </p:cNvCxnSpPr>
          <p:nvPr/>
        </p:nvCxnSpPr>
        <p:spPr>
          <a:xfrm flipV="1">
            <a:off x="3474717" y="2571750"/>
            <a:ext cx="1955224" cy="456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BF40FB6-4CCB-8668-A054-DB51D2871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142" y="1155182"/>
            <a:ext cx="2832220" cy="10457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07F855-4FC9-7A28-51EB-4C2B2EAEF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142" y="2200925"/>
            <a:ext cx="3735804" cy="9382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E5B74FF4-AF43-76BF-2344-074EC83DB620}"/>
              </a:ext>
            </a:extLst>
          </p:cNvPr>
          <p:cNvGrpSpPr/>
          <p:nvPr/>
        </p:nvGrpSpPr>
        <p:grpSpPr>
          <a:xfrm>
            <a:off x="1704142" y="3159539"/>
            <a:ext cx="2500174" cy="1131550"/>
            <a:chOff x="875447" y="1741454"/>
            <a:chExt cx="4271978" cy="209276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04EBCB8-A633-E110-2D47-85EB15E75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59921"/>
            <a:stretch>
              <a:fillRect/>
            </a:stretch>
          </p:blipFill>
          <p:spPr>
            <a:xfrm>
              <a:off x="875447" y="1741454"/>
              <a:ext cx="4248743" cy="120270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EDDAB62-276E-5757-6AD1-A9B878190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69118"/>
            <a:stretch>
              <a:fillRect/>
            </a:stretch>
          </p:blipFill>
          <p:spPr>
            <a:xfrm>
              <a:off x="898682" y="2907509"/>
              <a:ext cx="4248743" cy="92671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3822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5EEED295-8B46-7D49-C9F8-094DF9EB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300D12B-638B-B0BF-FA8E-522E5AFE9AC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B4887C89-1F3E-0B20-FE21-CECE0F9551F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018DD09-EFA3-5433-3B14-9EA89ED37D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A7CE31F6-B85D-D593-BAFB-D816F2CFC24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소개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4AC9B1-C7EB-A507-F83E-EC2C53898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1" y="1055550"/>
            <a:ext cx="6014533" cy="1861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E0C1E-E513-31F1-A0B6-8B0B899A756C}"/>
              </a:ext>
            </a:extLst>
          </p:cNvPr>
          <p:cNvSpPr txBox="1"/>
          <p:nvPr/>
        </p:nvSpPr>
        <p:spPr>
          <a:xfrm>
            <a:off x="2171689" y="2916812"/>
            <a:ext cx="2597186" cy="1021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u="sng" dirty="0"/>
              <a:t>통계청 데이터</a:t>
            </a:r>
            <a:endParaRPr lang="en-US" altLang="ko-KR" b="1" u="sng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단편적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다수의 파일로 흩어져 있음</a:t>
            </a:r>
            <a:endParaRPr lang="en-US" altLang="ko-KR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A7D6C7E-09B5-B8DC-23E0-A91A1D66F041}"/>
              </a:ext>
            </a:extLst>
          </p:cNvPr>
          <p:cNvSpPr/>
          <p:nvPr/>
        </p:nvSpPr>
        <p:spPr>
          <a:xfrm>
            <a:off x="2228850" y="4071937"/>
            <a:ext cx="600075" cy="371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5A368-10D9-7724-1329-309FC8318680}"/>
              </a:ext>
            </a:extLst>
          </p:cNvPr>
          <p:cNvSpPr txBox="1"/>
          <p:nvPr/>
        </p:nvSpPr>
        <p:spPr>
          <a:xfrm>
            <a:off x="2855687" y="4103785"/>
            <a:ext cx="4203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데이터를 선택적으로 불러와 재구성할 필요가 있음</a:t>
            </a:r>
          </a:p>
        </p:txBody>
      </p:sp>
    </p:spTree>
    <p:extLst>
      <p:ext uri="{BB962C8B-B14F-4D97-AF65-F5344CB8AC3E}">
        <p14:creationId xmlns:p14="http://schemas.microsoft.com/office/powerpoint/2010/main" val="367631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68A958CE-0091-F7ED-FAE3-F3B9559E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6A54B61-869C-D072-0754-AA75E372DBA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47FA4A32-4ADA-CB0F-C590-3A0806EEE47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D626661-DABE-DE8D-C469-09BFC8DBF6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AC03EA12-3315-E414-E3FC-755E6A28509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AutoShape 4" descr="빅데이터 드립 - 나무위키">
            <a:extLst>
              <a:ext uri="{FF2B5EF4-FFF2-40B4-BE49-F238E27FC236}">
                <a16:creationId xmlns:a16="http://schemas.microsoft.com/office/drawing/2014/main" id="{8DBBF924-36E4-CAF4-C03C-2F6202736E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17E652-76C3-37E6-FFEF-2B88C341E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461" y="1794036"/>
            <a:ext cx="2578522" cy="15457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C5F6E6-2BDB-643D-29BE-29FDBE7A06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80"/>
          <a:stretch>
            <a:fillRect/>
          </a:stretch>
        </p:blipFill>
        <p:spPr>
          <a:xfrm>
            <a:off x="1773738" y="1544715"/>
            <a:ext cx="2291056" cy="2117485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05124B-59FF-9E0C-7DE8-88D3D06D0B9C}"/>
              </a:ext>
            </a:extLst>
          </p:cNvPr>
          <p:cNvSpPr txBox="1"/>
          <p:nvPr/>
        </p:nvSpPr>
        <p:spPr>
          <a:xfrm>
            <a:off x="1495517" y="3753263"/>
            <a:ext cx="3076483" cy="698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2</a:t>
            </a:r>
            <a:r>
              <a:rPr lang="ko-KR" altLang="en-US" b="1" dirty="0"/>
              <a:t>등 수상자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: </a:t>
            </a:r>
            <a:r>
              <a:rPr lang="ko-KR" altLang="en-US" b="1" dirty="0"/>
              <a:t>서울시립대학교 세무학과 오지용씨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2F957-B76B-CE4B-ADB6-495D6C8978FD}"/>
              </a:ext>
            </a:extLst>
          </p:cNvPr>
          <p:cNvSpPr txBox="1"/>
          <p:nvPr/>
        </p:nvSpPr>
        <p:spPr>
          <a:xfrm>
            <a:off x="4452266" y="2279362"/>
            <a:ext cx="732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VS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481380-D956-2613-DC69-58CD6EB2CE17}"/>
              </a:ext>
            </a:extLst>
          </p:cNvPr>
          <p:cNvSpPr txBox="1"/>
          <p:nvPr/>
        </p:nvSpPr>
        <p:spPr>
          <a:xfrm>
            <a:off x="5612474" y="4040819"/>
            <a:ext cx="265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CUAI</a:t>
            </a:r>
            <a:r>
              <a:rPr lang="ko-KR" altLang="en-US" b="1" dirty="0"/>
              <a:t> </a:t>
            </a:r>
            <a:r>
              <a:rPr lang="en-US" altLang="ko-KR" b="1" dirty="0"/>
              <a:t>8</a:t>
            </a:r>
            <a:r>
              <a:rPr lang="ko-KR" altLang="en-US" b="1" dirty="0"/>
              <a:t>조 </a:t>
            </a:r>
            <a:r>
              <a:rPr lang="en-US" altLang="ko-KR" b="1" dirty="0"/>
              <a:t>Basic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023E2-BFB3-5662-2C1A-5DC62792B1FA}"/>
              </a:ext>
            </a:extLst>
          </p:cNvPr>
          <p:cNvSpPr txBox="1"/>
          <p:nvPr/>
        </p:nvSpPr>
        <p:spPr>
          <a:xfrm>
            <a:off x="3033758" y="1010847"/>
            <a:ext cx="3943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근로자의 임금보다 세금이 더 많이 증가했을까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551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7B82BD-93A9-5258-A30A-D0CFD06ACC32}"/>
              </a:ext>
            </a:extLst>
          </p:cNvPr>
          <p:cNvSpPr txBox="1"/>
          <p:nvPr/>
        </p:nvSpPr>
        <p:spPr>
          <a:xfrm>
            <a:off x="4062084" y="2417861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Thank you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화면 슬라이드 쇼(16:9)</PresentationFormat>
  <Paragraphs>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NanumGothicExtraBold</vt:lpstr>
      <vt:lpstr>Arial</vt:lpstr>
      <vt:lpstr>Nanum 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찬진 주</cp:lastModifiedBy>
  <cp:revision>1</cp:revision>
  <dcterms:modified xsi:type="dcterms:W3CDTF">2026-04-27T17:26:08Z</dcterms:modified>
</cp:coreProperties>
</file>